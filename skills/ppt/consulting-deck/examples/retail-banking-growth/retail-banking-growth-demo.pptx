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9d4dd46c14885" /><Relationship Type="http://schemas.openxmlformats.org/officeDocument/2006/relationships/extended-properties" Target="/docProps/app.xml" Id="R6931088d06e046c3" /><Relationship Type="http://schemas.openxmlformats.org/officeDocument/2006/relationships/officeDocument" Target="/ppt/presentation.xml" Id="Rb5832ea5589840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6a36c09c534302"/>
  </p:sldMasterIdLst>
  <p:notesMasterIdLst>
    <p:notesMasterId xmlns:r="http://schemas.openxmlformats.org/officeDocument/2006/relationships" r:id="Rfeed97b373f24cb0"/>
  </p:notesMasterIdLst>
  <p:sldIdLst>
    <p:sldId xmlns:r="http://schemas.openxmlformats.org/officeDocument/2006/relationships" id="256" r:id="R90c1ab70dfc04f30"/>
    <p:sldId xmlns:r="http://schemas.openxmlformats.org/officeDocument/2006/relationships" id="257" r:id="R9469187748394f96"/>
    <p:sldId xmlns:r="http://schemas.openxmlformats.org/officeDocument/2006/relationships" id="258" r:id="R0b6db738e71445ae"/>
    <p:sldId xmlns:r="http://schemas.openxmlformats.org/officeDocument/2006/relationships" id="259" r:id="R9959a601280c409b"/>
    <p:sldId xmlns:r="http://schemas.openxmlformats.org/officeDocument/2006/relationships" id="260" r:id="Rdf6750b836c14a4f"/>
    <p:sldId xmlns:r="http://schemas.openxmlformats.org/officeDocument/2006/relationships" id="261" r:id="Rda803875921242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b3ad712814bd1" /><Relationship Type="http://schemas.openxmlformats.org/officeDocument/2006/relationships/slideMaster" Target="/ppt/slideMasters/slideMaster1.xml" Id="Rf86a36c09c534302" /><Relationship Type="http://schemas.openxmlformats.org/officeDocument/2006/relationships/notesMaster" Target="/ppt/notesMasters/notesMaster1.xml" Id="Rfeed97b373f24cb0" /><Relationship Type="http://schemas.openxmlformats.org/officeDocument/2006/relationships/presProps" Target="/ppt/presProps.xml" Id="Rfed1c64328f54d2b" /><Relationship Type="http://schemas.openxmlformats.org/officeDocument/2006/relationships/tableStyles" Target="/ppt/tableStyles.xml" Id="R8bd31730bd524087" /><Relationship Type="http://schemas.openxmlformats.org/officeDocument/2006/relationships/slide" Target="/ppt/slides/slide1.xml" Id="R90c1ab70dfc04f30" /><Relationship Type="http://schemas.openxmlformats.org/officeDocument/2006/relationships/slide" Target="/ppt/slides/slide2.xml" Id="R9469187748394f96" /><Relationship Type="http://schemas.openxmlformats.org/officeDocument/2006/relationships/slide" Target="/ppt/slides/slide3.xml" Id="R0b6db738e71445ae" /><Relationship Type="http://schemas.openxmlformats.org/officeDocument/2006/relationships/slide" Target="/ppt/slides/slide4.xml" Id="R9959a601280c409b" /><Relationship Type="http://schemas.openxmlformats.org/officeDocument/2006/relationships/slide" Target="/ppt/slides/slide5.xml" Id="Rdf6750b836c14a4f" /><Relationship Type="http://schemas.openxmlformats.org/officeDocument/2006/relationships/slide" Target="/ppt/slides/slide6.xml" Id="Rda8038759212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f93a23888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99caeed844c85" /><Relationship Type="http://schemas.openxmlformats.org/officeDocument/2006/relationships/notesMaster" Target="/ppt/notesMasters/notesMaster1.xml" Id="Rd4a259a14247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978fc77fb443d" /><Relationship Type="http://schemas.openxmlformats.org/officeDocument/2006/relationships/notesMaster" Target="/ppt/notesMasters/notesMaster1.xml" Id="R88cfed7146a8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e9422e4b44d3e" /><Relationship Type="http://schemas.openxmlformats.org/officeDocument/2006/relationships/notesMaster" Target="/ppt/notesMasters/notesMaster1.xml" Id="Rb28f59494e974b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5d4f3d620f4e07" /><Relationship Type="http://schemas.openxmlformats.org/officeDocument/2006/relationships/notesMaster" Target="/ppt/notesMasters/notesMaster1.xml" Id="R26e8edecfc91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ff2ccc40443ec" /><Relationship Type="http://schemas.openxmlformats.org/officeDocument/2006/relationships/notesMaster" Target="/ppt/notesMasters/notesMaster1.xml" Id="Rdd5ddd29621e40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fa910b91a2478b" /><Relationship Type="http://schemas.openxmlformats.org/officeDocument/2006/relationships/notesMaster" Target="/ppt/notesMasters/notesMaster1.xml" Id="R8b0e9978c99c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d51dd7370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43aec35a304997" /><Relationship Type="http://schemas.openxmlformats.org/officeDocument/2006/relationships/slideLayout" Target="/ppt/slideLayouts/slideLayout1.xml" Id="Raf1c88873b55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c88873b55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78f121104096" /><Relationship Type="http://schemas.openxmlformats.org/officeDocument/2006/relationships/notesSlide" Target="/ppt/notesSlides/notesSlide1.xml" Id="Rc2e85287382b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bc137880449b0" /><Relationship Type="http://schemas.openxmlformats.org/officeDocument/2006/relationships/chart" Target="/ppt/slides/charts/chart1.xml" Id="R6888a0c6da654f15" /><Relationship Type="http://schemas.openxmlformats.org/officeDocument/2006/relationships/notesSlide" Target="/ppt/notesSlides/notesSlide2.xml" Id="R75bd66e7306749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69dfbd8a4f38" /><Relationship Type="http://schemas.openxmlformats.org/officeDocument/2006/relationships/chart" Target="/ppt/slides/charts/chart2.xml" Id="R95c66d747dd24475" /><Relationship Type="http://schemas.openxmlformats.org/officeDocument/2006/relationships/notesSlide" Target="/ppt/notesSlides/notesSlide3.xml" Id="Rccc03c04852e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aa8b69bb4cfd" /><Relationship Type="http://schemas.openxmlformats.org/officeDocument/2006/relationships/chart" Target="/ppt/slides/charts/chart3.xml" Id="Rf7d798948be045bc" /><Relationship Type="http://schemas.openxmlformats.org/officeDocument/2006/relationships/notesSlide" Target="/ppt/notesSlides/notesSlide4.xml" Id="Ra6f23f871f1b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0978a5af14f25" /><Relationship Type="http://schemas.openxmlformats.org/officeDocument/2006/relationships/chart" Target="/ppt/slides/charts/chart4.xml" Id="R6325aed1ea2c4862" /><Relationship Type="http://schemas.openxmlformats.org/officeDocument/2006/relationships/notesSlide" Target="/ppt/notesSlides/notesSlide5.xml" Id="R946eb922f9bf4d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8004dcf21435a" /><Relationship Type="http://schemas.openxmlformats.org/officeDocument/2006/relationships/notesSlide" Target="/ppt/notesSlides/notesSlide6.xml" Id="R9c2be483affc41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Growth contribution</c:v>
          </c:tx>
          <c:spPr>
            <a:solidFill xmlns:a="http://schemas.openxmlformats.org/drawingml/2006/main">
              <a:srgbClr val="0B2C5F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D8E0E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65717E"/>
              </a:solidFill>
            </c:spPr>
          </c:dPt>
          <c:cat>
            <c:strLit>
              <c:ptCount val="6"/>
              <c:pt idx="0">
                <c:v>Starting base</c:v>
              </c:pt>
              <c:pt idx="1">
                <c:v>New customers</c:v>
              </c:pt>
              <c:pt idx="2">
                <c:v>Activation</c:v>
              </c:pt>
              <c:pt idx="3">
                <c:v>Primary status</c:v>
              </c:pt>
              <c:pt idx="4">
                <c:v>Cross-sell</c:v>
              </c:pt>
              <c:pt idx="5">
                <c:v>Attrition</c:v>
              </c:pt>
            </c:strLit>
          </c:cat>
          <c:val>
            <c:numLit>
              <c:formatCode>0.0</c:formatCode>
              <c:ptCount val="6"/>
              <c:pt idx="0">
                <c:v>3.2</c:v>
              </c:pt>
              <c:pt idx="1">
                <c:v>1.1</c:v>
              </c:pt>
              <c:pt idx="2">
                <c:v>0.7</c:v>
              </c:pt>
              <c:pt idx="3">
                <c:v>2.4</c:v>
              </c:pt>
              <c:pt idx="4">
                <c:v>1.3</c:v>
              </c:pt>
              <c:pt idx="5">
                <c:v>-0.8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5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65717E"/>
                    </a:solidFill>
                  </a:rPr>
                  <a:t>Growth contribution, percentage points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65717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Annual relationship value index</c:v>
          </c:tx>
          <c:spPr>
            <a:solidFill xmlns:a="http://schemas.openxmlformats.org/drawingml/2006/main">
              <a:srgbClr val="0B2C5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E0E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E6DF"/>
              </a:solidFill>
            </c:spPr>
          </c:dPt>
          <c:cat>
            <c:strLit>
              <c:ptCount val="4"/>
              <c:pt idx="0">
                <c:v>Primary</c:v>
              </c:pt>
              <c:pt idx="1">
                <c:v>Multi-product</c:v>
              </c:pt>
              <c:pt idx="2">
                <c:v>Single-product</c:v>
              </c:pt>
              <c:pt idx="3">
                <c:v>Dormant</c:v>
              </c:pt>
            </c:strLit>
          </c:cat>
          <c:val>
            <c:numLit>
              <c:formatCode>General</c:formatCode>
              <c:ptCount val="4"/>
              <c:pt idx="0">
                <c:v>410</c:v>
              </c:pt>
              <c:pt idx="1">
                <c:v>235</c:v>
              </c:pt>
              <c:pt idx="2">
                <c:v>100</c:v>
              </c:pt>
              <c:pt idx="3">
                <c:v>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5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5202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Households</c:v>
          </c:tx>
          <c:spPr>
            <a:solidFill xmlns:a="http://schemas.openxmlformats.org/drawingml/2006/main">
              <a:srgbClr val="23A6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2C5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67FA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8C4D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8E0E7"/>
              </a:solidFill>
            </c:spPr>
          </c:dPt>
          <c:cat>
            <c:strLit>
              <c:ptCount val="5"/>
              <c:pt idx="0">
                <c:v>Eligible households</c:v>
              </c:pt>
              <c:pt idx="1">
                <c:v>Relevant offer</c:v>
              </c:pt>
              <c:pt idx="2">
                <c:v>Engaged</c:v>
              </c:pt>
              <c:pt idx="3">
                <c:v>Applied</c:v>
              </c:pt>
              <c:pt idx="4">
                <c:v>Activated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78</c:v>
              </c:pt>
              <c:pt idx="2">
                <c:v>51</c:v>
              </c:pt>
              <c:pt idx="3">
                <c:v>34</c:v>
              </c:pt>
              <c:pt idx="4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65717E"/>
                    </a:solidFill>
                  </a:rPr>
                  <a:t>Indexed households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65717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202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ubbleChart>
        <c:ser>
          <c:idx val="0"/>
          <c:order val="0"/>
          <c:tx>
            <c:v>Emerging affluent</c:v>
          </c:tx>
          <c:spPr>
            <a:solidFill xmlns:a="http://schemas.openxmlformats.org/drawingml/2006/main">
              <a:srgbClr val="F06455"/>
            </a:solidFill>
          </c:spPr>
          <c:xVal>
            <c:numLit>
              <c:formatCode>General</c:formatCode>
              <c:ptCount val="1"/>
              <c:pt idx="0">
                <c:v>74</c:v>
              </c:pt>
            </c:numLit>
          </c:xVal>
          <c:yVal>
            <c:numLit>
              <c:formatCode>General</c:formatCode>
              <c:ptCount val="1"/>
              <c:pt idx="0">
                <c:v>78</c:v>
              </c:pt>
            </c:numLit>
          </c:yVal>
          <c:bubbleSize>
            <c:numLit>
              <c:formatCode>General</c:formatCode>
              <c:ptCount val="1"/>
              <c:pt idx="0">
                <c:v>48</c:v>
              </c:pt>
            </c:numLit>
          </c:bubbleSize>
        </c:ser>
        <c:ser>
          <c:idx val="1"/>
          <c:order val="1"/>
          <c:tx>
            <c:v>Young professionals</c:v>
          </c:tx>
          <c:spPr>
            <a:solidFill xmlns:a="http://schemas.openxmlformats.org/drawingml/2006/main">
              <a:srgbClr val="23A6C7"/>
            </a:solidFill>
          </c:spPr>
          <c:xVal>
            <c:numLit>
              <c:formatCode>General</c:formatCode>
              <c:ptCount val="1"/>
              <c:pt idx="0">
                <c:v>67</c:v>
              </c:pt>
            </c:numLit>
          </c:xVal>
          <c:yVal>
            <c:numLit>
              <c:formatCode>General</c:formatCode>
              <c:ptCount val="1"/>
              <c:pt idx="0">
                <c:v>70</c:v>
              </c:pt>
            </c:numLit>
          </c:yVal>
          <c:bubbleSize>
            <c:numLit>
              <c:formatCode>General</c:formatCode>
              <c:ptCount val="1"/>
              <c:pt idx="0">
                <c:v>40</c:v>
              </c:pt>
            </c:numLit>
          </c:bubbleSize>
        </c:ser>
        <c:ser>
          <c:idx val="2"/>
          <c:order val="2"/>
          <c:tx>
            <c:v>Established families</c:v>
          </c:tx>
          <c:spPr>
            <a:solidFill xmlns:a="http://schemas.openxmlformats.org/drawingml/2006/main">
              <a:srgbClr val="0B2C5F"/>
            </a:solidFill>
          </c:spPr>
          <c:xVal>
            <c:numLit>
              <c:formatCode>General</c:formatCode>
              <c:ptCount val="1"/>
              <c:pt idx="0">
                <c:v>55</c:v>
              </c:pt>
            </c:numLit>
          </c:xVal>
          <c:yVal>
            <c:numLit>
              <c:formatCode>General</c:formatCode>
              <c:ptCount val="1"/>
              <c:pt idx="0">
                <c:v>62</c:v>
              </c:pt>
            </c:numLit>
          </c:yVal>
          <c:bubbleSize>
            <c:numLit>
              <c:formatCode>General</c:formatCode>
              <c:ptCount val="1"/>
              <c:pt idx="0">
                <c:v>58</c:v>
              </c:pt>
            </c:numLit>
          </c:bubbleSize>
        </c:ser>
        <c:ser>
          <c:idx val="3"/>
          <c:order val="3"/>
          <c:tx>
            <c:v>Mass active</c:v>
          </c:tx>
          <c:spPr>
            <a:solidFill xmlns:a="http://schemas.openxmlformats.org/drawingml/2006/main">
              <a:srgbClr val="D8E0E7"/>
            </a:solidFill>
          </c:spPr>
          <c:xVal>
            <c:numLit>
              <c:formatCode>General</c:formatCode>
              <c:ptCount val="1"/>
              <c:pt idx="0">
                <c:v>40</c:v>
              </c:pt>
            </c:numLit>
          </c:xVal>
          <c:yVal>
            <c:numLit>
              <c:formatCode>General</c:formatCode>
              <c:ptCount val="1"/>
              <c:pt idx="0">
                <c:v>38</c:v>
              </c:pt>
            </c:numLit>
          </c:yVal>
          <c:bubbleSize>
            <c:numLit>
              <c:formatCode>General</c:formatCode>
              <c:ptCount val="1"/>
              <c:pt idx="0">
                <c:v>72</c:v>
              </c:pt>
            </c:numLit>
          </c:bubbleSize>
        </c:ser>
        <c:ser>
          <c:idx val="4"/>
          <c:order val="4"/>
          <c:tx>
            <c:v>Low-engagement</c:v>
          </c:tx>
          <c:spPr>
            <a:solidFill xmlns:a="http://schemas.openxmlformats.org/drawingml/2006/main">
              <a:srgbClr val="E9E6DF"/>
            </a:solidFill>
          </c:spPr>
          <c:xVal>
            <c:numLit>
              <c:formatCode>General</c:formatCode>
              <c:ptCount val="1"/>
              <c:pt idx="0">
                <c:v>22</c:v>
              </c:pt>
            </c:numLit>
          </c:xVal>
          <c:yVal>
            <c:numLit>
              <c:formatCode>General</c:formatCode>
              <c:ptCount val="1"/>
              <c:pt idx="0">
                <c:v>24</c:v>
              </c:pt>
            </c:numLit>
          </c:yVal>
          <c:bubbleSize>
            <c:numLit>
              <c:formatCode>General</c:formatCode>
              <c:ptCount val="1"/>
              <c:pt idx="0">
                <c:v>45</c:v>
              </c:pt>
            </c:numLit>
          </c:bubbleSize>
        </c:ser>
        <c:axId val="48650112"/>
        <c:axId val="48672768"/>
      </c:bubble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5717E"/>
                    </a:solidFill>
                  </a:rPr>
                  <a:t>Engagement intent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5717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5717E"/>
                    </a:solidFill>
                  </a:rPr>
                  <a:t>Relationship headroom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5717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5717E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8534A92-809D-44B3-9319-7BA9EB4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455"/>
                </a:solidFill>
              </a:defRPr>
            </a:pPr>
            <a:r>
              <a:rPr sz="975" b="1">
                <a:solidFill>
                  <a:srgbClr val="F06455"/>
                </a:solidFill>
              </a:rPr>
              <a:t>RETAIL BANKING GROWTH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13AE38-C308-44AA-A5AD-22EF826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2B"/>
                </a:solidFill>
              </a:defRPr>
            </a:pPr>
            <a:r>
              <a:rPr sz="4350" b="1">
                <a:solidFill>
                  <a:srgbClr val="15202B"/>
                </a:solidFill>
              </a:rPr>
              <a:t>Primary relationships — not acquisition volume — drive the growth gap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AC5A2DF-F839-41D1-A0C6-9517177C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7E"/>
                </a:solidFill>
              </a:defRPr>
            </a:pPr>
            <a:r>
              <a:rPr sz="1650">
                <a:solidFill>
                  <a:srgbClr val="65717E"/>
                </a:solidFill>
              </a:rPr>
              <a:t>A six-page consulting demonstration connecting customer economics, journey leakage and a focused growth agenda in an editable PowerPoint.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FE440-74E6-4415-A4F4-B63EAE5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5F"/>
          </a:solidFill>
          <a:ln xmlns:a="http://schemas.openxmlformats.org/drawingml/2006/main" w="0">
            <a:solidFill>
              <a:srgbClr val="0B2C5F"/>
            </a:solidFill>
            <a:prstDash val="solid"/>
          </a:ln>
        </p:spPr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81F33143-8132-44D9-9760-5B7DE7A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C5F"/>
                </a:solidFill>
              </a:defRPr>
            </a:pPr>
            <a:r>
              <a:rPr sz="1275" b="1">
                <a:solidFill>
                  <a:srgbClr val="0B2C5F"/>
                </a:solidFill>
              </a:rPr>
              <a:t>The modeled plan reallocates investment toward high-potential households and three decisive journeys.</a:t>
            </a:r>
          </a:p>
        </p:txBody>
      </p:sp>
      <p:sp>
        <p:nvSpPr>
          <p:cNvPr id="6" name="cover-tag">
            <a:extLst xmlns:a="http://schemas.openxmlformats.org/drawingml/2006/main">
              <a:ext uri="{FF2B5EF4-FFF2-40B4-BE49-F238E27FC236}">
                <a16:creationId xmlns:a16="http://schemas.microsoft.com/office/drawing/2014/main" id="{36F9CBF3-A073-475F-867F-489EE43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6455"/>
                </a:solidFill>
              </a:defRPr>
            </a:pPr>
            <a:r>
              <a:rPr sz="900" b="1">
                <a:solidFill>
                  <a:srgbClr val="F06455"/>
                </a:solidFill>
              </a:rPr>
              <a:t>EDITABLE PPTX DEMO</a:t>
            </a:r>
          </a:p>
        </p:txBody>
      </p:sp>
      <p:sp>
        <p:nvSpPr>
          <p:cNvPr id="7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CC39227B-1A30-4D03-B9CE-E0345485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data for product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50449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">
            <a:extLst xmlns:a="http://schemas.openxmlformats.org/drawingml/2006/main">
              <a:ext uri="{FF2B5EF4-FFF2-40B4-BE49-F238E27FC236}">
                <a16:creationId xmlns:a16="http://schemas.microsoft.com/office/drawing/2014/main" id="{2C73173A-1B72-45E1-A028-DEDD08D9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DIAGNOSE THE GAP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5EB2E28-D85F-45E7-97D7-2975D31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Most of the growth gap comes after acquisition, not before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F2DF-D6AF-469F-ABF8-B036521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88a0c6da654f15"/>
          </a:graphicData>
        </a:graphic>
      </p:graphicFrame>
      <p:sp>
        <p:nvSpPr>
          <p:cNvPr id="5" name="metric-61%-930">
            <a:extLst xmlns:a="http://schemas.openxmlformats.org/drawingml/2006/main">
              <a:ext uri="{FF2B5EF4-FFF2-40B4-BE49-F238E27FC236}">
                <a16:creationId xmlns:a16="http://schemas.microsoft.com/office/drawing/2014/main" id="{45E6B3D7-92A1-4C69-94D0-BB64225C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6455"/>
                </a:solidFill>
              </a:defRPr>
            </a:pPr>
            <a:r>
              <a:rPr sz="3450" b="1">
                <a:solidFill>
                  <a:srgbClr val="F06455"/>
                </a:solidFill>
              </a:rPr>
              <a:t>61%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E6052D-F712-4E65-BE35-B23AFD4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Post-acquisition gap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1803CD-AEE0-4072-BC9E-87132B1F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Primary status and cross-sell explain most of the modeled upside.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32A1E-0AEA-44A4-94B2-6C44816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C7"/>
          </a:solidFill>
          <a:ln xmlns:a="http://schemas.openxmlformats.org/drawingml/2006/main" w="0">
            <a:solidFill>
              <a:srgbClr val="23A6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70DF47-7BA9-4B28-A024-FB8D8A46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Acquisition matters, but the larger prize is converting an acquired customer into a primary relationship.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83E2D-0223-41CC-839A-390485E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1" name="source-2">
            <a:extLst xmlns:a="http://schemas.openxmlformats.org/drawingml/2006/main">
              <a:ext uri="{FF2B5EF4-FFF2-40B4-BE49-F238E27FC236}">
                <a16:creationId xmlns:a16="http://schemas.microsoft.com/office/drawing/2014/main" id="{F8CCAC18-9C98-4668-8FCB-B8D8AF0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501FB537-F3DE-42BF-B209-FDEE6470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6428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3">
            <a:extLst xmlns:a="http://schemas.openxmlformats.org/drawingml/2006/main">
              <a:ext uri="{FF2B5EF4-FFF2-40B4-BE49-F238E27FC236}">
                <a16:creationId xmlns:a16="http://schemas.microsoft.com/office/drawing/2014/main" id="{1AE67CB5-5E5E-42DE-8987-4E0679C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CUSTOMER ECONOMICS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51CE282-A07C-4FAD-A4EE-4CFF06B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Primary customers create 4.1× more relationship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E221B-4D59-4085-AA9C-7131D86E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7477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c66d747dd24475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DD18CA-B92E-42CE-BD80-828C627F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A6C7"/>
                </a:solidFill>
              </a:defRPr>
            </a:pPr>
            <a:r>
              <a:rPr sz="1125" b="1">
                <a:solidFill>
                  <a:srgbClr val="23A6C7"/>
                </a:solidFill>
              </a:rPr>
              <a:t>The economics are nonlinear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ABC39E-981C-4572-93DF-DEE1A1E8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C5F"/>
                </a:solidFill>
              </a:defRPr>
            </a:pPr>
            <a:r>
              <a:rPr sz="1800" b="1">
                <a:solidFill>
                  <a:srgbClr val="0B2C5F"/>
                </a:solidFill>
              </a:rPr>
              <a:t>Primary status raises balances, product depth and retention at the same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32C6-2243-4C70-A077-9D0AAAA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9799FB-1D7A-4955-A335-17810E0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Growth management should optimize relationship migration, not only product conversion.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CCAB8-F2CB-40DC-9946-390F6DE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0" name="source-3">
            <a:extLst xmlns:a="http://schemas.openxmlformats.org/drawingml/2006/main">
              <a:ext uri="{FF2B5EF4-FFF2-40B4-BE49-F238E27FC236}">
                <a16:creationId xmlns:a16="http://schemas.microsoft.com/office/drawing/2014/main" id="{D32C26EA-7673-43B1-ACDB-7F4718C1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976B4F5D-ADE4-464B-BCA0-8C4306E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9469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4">
            <a:extLst xmlns:a="http://schemas.openxmlformats.org/drawingml/2006/main">
              <a:ext uri="{FF2B5EF4-FFF2-40B4-BE49-F238E27FC236}">
                <a16:creationId xmlns:a16="http://schemas.microsoft.com/office/drawing/2014/main" id="{6C5C8269-F346-421C-82CB-322A3239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JOURNEY LEAKAGE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818E97F-D5E7-46D5-B025-01FA46A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Three customer journeys leak nearly two-thirds of the cross-sell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D2021-20EB-41B8-8669-A3A66387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4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d798948be045bc"/>
          </a:graphicData>
        </a:graphic>
      </p:graphicFrame>
      <p:sp>
        <p:nvSpPr>
          <p:cNvPr id="5" name="metric-−22 pts-892">
            <a:extLst xmlns:a="http://schemas.openxmlformats.org/drawingml/2006/main">
              <a:ext uri="{FF2B5EF4-FFF2-40B4-BE49-F238E27FC236}">
                <a16:creationId xmlns:a16="http://schemas.microsoft.com/office/drawing/2014/main" id="{657904F0-7414-4C9E-907D-96A4AF69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2C5F"/>
                </a:solidFill>
              </a:defRPr>
            </a:pPr>
            <a:r>
              <a:rPr sz="3450" b="1">
                <a:solidFill>
                  <a:srgbClr val="0B2C5F"/>
                </a:solidFill>
              </a:rPr>
              <a:t>−22 pts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F6BF16-896F-4964-B96A-6040F5D6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Offer relevance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D9F6EB-933C-4E4A-9B5D-524A288D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Eligibility rules are broad; next-best-action logic is weak.</a:t>
            </a:r>
          </a:p>
        </p:txBody>
      </p:sp>
      <p:sp>
        <p:nvSpPr>
          <p:cNvPr id="8" name="metric-−27 pts-892">
            <a:extLst xmlns:a="http://schemas.openxmlformats.org/drawingml/2006/main">
              <a:ext uri="{FF2B5EF4-FFF2-40B4-BE49-F238E27FC236}">
                <a16:creationId xmlns:a16="http://schemas.microsoft.com/office/drawing/2014/main" id="{F4892E69-9071-40BB-BFD4-0D1F01B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289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6455"/>
                </a:solidFill>
              </a:defRPr>
            </a:pPr>
            <a:r>
              <a:rPr sz="3450" b="1">
                <a:solidFill>
                  <a:srgbClr val="F06455"/>
                </a:solidFill>
              </a:rPr>
              <a:t>−27 pts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FA6794-8F90-4CFD-8948-A4A3940D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57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Engagement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121D7D-5240-4C30-8467-AC068F3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Outreach is product-led rather than event-led.</a:t>
            </a:r>
          </a:p>
        </p:txBody>
      </p:sp>
      <p:sp>
        <p:nvSpPr>
          <p:cNvPr id="11" name="metric-−13 pts-892">
            <a:extLst xmlns:a="http://schemas.openxmlformats.org/drawingml/2006/main">
              <a:ext uri="{FF2B5EF4-FFF2-40B4-BE49-F238E27FC236}">
                <a16:creationId xmlns:a16="http://schemas.microsoft.com/office/drawing/2014/main" id="{43A0B165-7EE5-4F62-836C-8774EB10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2C5F"/>
                </a:solidFill>
              </a:defRPr>
            </a:pPr>
            <a:r>
              <a:rPr sz="3450" b="1">
                <a:solidFill>
                  <a:srgbClr val="0B2C5F"/>
                </a:solidFill>
              </a:rPr>
              <a:t>−13 pts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BD9159-C65E-4380-8BBD-C50CCF19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38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Activation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C3A039-9CB9-4463-991C-D34D97D3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197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The first-use journey does not reinforce the relationship.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15A79-4818-4532-B8E3-4709B108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92E5FFCD-A9FA-4A33-9A7F-427EDCA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B78BEE9-20B2-4F92-959A-1D00511A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3079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0355C298-2885-4BDC-981E-CC87654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WHERE TO INVEST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104E43F-CA23-422F-833A-7862F27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 segment-led model shifts investment toward households with headroom and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BB9F6-788E-4470-A252-69486F28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667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25aed1ea2c4862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DF1D05-7FE0-4882-B333-D39C159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6455"/>
                </a:solidFill>
              </a:defRPr>
            </a:pPr>
            <a:r>
              <a:rPr sz="1050" b="1">
                <a:solidFill>
                  <a:srgbClr val="F06455"/>
                </a:solidFill>
              </a:rPr>
              <a:t>Priority pool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581A3-806E-4BDF-958B-31F4A54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C5F"/>
                </a:solidFill>
              </a:defRPr>
            </a:pPr>
            <a:r>
              <a:rPr sz="1800" b="1">
                <a:solidFill>
                  <a:srgbClr val="0B2C5F"/>
                </a:solidFill>
              </a:rPr>
              <a:t>Emerging affluent and young professionals combine high intent with relationship headroom.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F268B-0B5A-4B77-B455-94C0CCF9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C7"/>
          </a:solidFill>
          <a:ln xmlns:a="http://schemas.openxmlformats.org/drawingml/2006/main" w="0">
            <a:solidFill>
              <a:srgbClr val="23A6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9492AA-23AD-4279-9055-33324F3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9580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Use segment economics to set journey investment and service intensity.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BAADD-A64D-4956-93AA-38F9EF69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0" name="source-5">
            <a:extLst xmlns:a="http://schemas.openxmlformats.org/drawingml/2006/main">
              <a:ext uri="{FF2B5EF4-FFF2-40B4-BE49-F238E27FC236}">
                <a16:creationId xmlns:a16="http://schemas.microsoft.com/office/drawing/2014/main" id="{E5170AE8-0943-451C-8985-F3C8B0F6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1" name="page-5">
            <a:extLst xmlns:a="http://schemas.openxmlformats.org/drawingml/2006/main">
              <a:ext uri="{FF2B5EF4-FFF2-40B4-BE49-F238E27FC236}">
                <a16:creationId xmlns:a16="http://schemas.microsoft.com/office/drawing/2014/main" id="{E469E419-0B6C-4071-B31E-57C161DD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8708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6">
            <a:extLst xmlns:a="http://schemas.openxmlformats.org/drawingml/2006/main">
              <a:ext uri="{FF2B5EF4-FFF2-40B4-BE49-F238E27FC236}">
                <a16:creationId xmlns:a16="http://schemas.microsoft.com/office/drawing/2014/main" id="{B04817C3-8BED-4A18-81B0-7F73EE9E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GROWTH AGENDA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1239F5D-C389-4D9F-90E6-30DCCD1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Four moves can add 9–12 points to modeled wallet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291E8-1AF6-4AE0-ADC7-6B5F8141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FC3B51-BAFD-445B-AAC1-47727EA9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455"/>
                </a:solidFill>
              </a:defRPr>
            </a:pPr>
            <a:r>
              <a:rPr sz="1125" b="1">
                <a:solidFill>
                  <a:srgbClr val="F06455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159595-646C-43A4-A2E0-3BA165A9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02B"/>
                </a:solidFill>
              </a:defRPr>
            </a:pPr>
            <a:r>
              <a:rPr sz="1725" b="1">
                <a:solidFill>
                  <a:srgbClr val="15202B"/>
                </a:solidFill>
              </a:rPr>
              <a:t>Detect life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83C13-2575-47D0-94ED-4A5D65F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3524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/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6447E-1485-40C0-A4EA-A9E89B0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8CC167-F312-4638-9B67-1BFFC71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6455"/>
                </a:solidFill>
              </a:defRPr>
            </a:pPr>
            <a:r>
              <a:rPr sz="1350" b="1">
                <a:solidFill>
                  <a:srgbClr val="F06455"/>
                </a:solidFill>
              </a:rPr>
              <a:t>2–3 pts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4ACE7B-6184-41E1-A59A-2334117F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A6C7"/>
                </a:solidFill>
              </a:defRPr>
            </a:pPr>
            <a:r>
              <a:rPr sz="1125" b="1">
                <a:solidFill>
                  <a:srgbClr val="23A6C7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D46CF5-5781-4ED2-9282-5DAC4ECA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02B"/>
                </a:solidFill>
              </a:defRPr>
            </a:pPr>
            <a:r>
              <a:rPr sz="1725" b="1">
                <a:solidFill>
                  <a:srgbClr val="15202B"/>
                </a:solidFill>
              </a:rPr>
              <a:t>Personalize next best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0B65C-C7B2-40AB-90D8-503B67B4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3524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/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37E49-7DB3-4E12-9F1F-65E51AD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C7"/>
          </a:solidFill>
          <a:ln xmlns:a="http://schemas.openxmlformats.org/drawingml/2006/main" w="0">
            <a:solidFill>
              <a:srgbClr val="23A6C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AA03AF-31E8-4FD9-BA67-5F9248B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3A6C7"/>
                </a:solidFill>
              </a:defRPr>
            </a:pPr>
            <a:r>
              <a:rPr sz="1350" b="1">
                <a:solidFill>
                  <a:srgbClr val="23A6C7"/>
                </a:solidFill>
              </a:rPr>
              <a:t>3–4 pts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3CAFE56-7DCD-44C2-9217-1E2CCE2F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C5F"/>
                </a:solidFill>
              </a:defRPr>
            </a:pPr>
            <a:r>
              <a:rPr sz="1125" b="1">
                <a:solidFill>
                  <a:srgbClr val="0B2C5F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4175962-C81E-4FA5-8841-69388B4A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02B"/>
                </a:solidFill>
              </a:defRPr>
            </a:pPr>
            <a:r>
              <a:rPr sz="1725" b="1">
                <a:solidFill>
                  <a:srgbClr val="15202B"/>
                </a:solidFill>
              </a:rPr>
              <a:t>Redesign first 30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B1999-495C-4920-8741-95E4F0D0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05250"/>
            <a:ext cx="3524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/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E68DC-AEE6-4263-A6D2-33F7A936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052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5F"/>
          </a:solidFill>
          <a:ln xmlns:a="http://schemas.openxmlformats.org/drawingml/2006/main" w="0">
            <a:solidFill>
              <a:srgbClr val="0B2C5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C7B108-E6FE-4450-A8D2-5327D89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2C5F"/>
                </a:solidFill>
              </a:defRPr>
            </a:pPr>
            <a:r>
              <a:rPr sz="1350" b="1">
                <a:solidFill>
                  <a:srgbClr val="0B2C5F"/>
                </a:solidFill>
              </a:rPr>
              <a:t>2–3 pts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B53976-66A0-4598-8DBC-B730D4D4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8C78"/>
                </a:solidFill>
              </a:defRPr>
            </a:pPr>
            <a:r>
              <a:rPr sz="1125" b="1">
                <a:solidFill>
                  <a:srgbClr val="3B8C78"/>
                </a:solidFill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B1018A8-6471-4E30-A915-178A884C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02B"/>
                </a:solidFill>
              </a:defRPr>
            </a:pPr>
            <a:r>
              <a:rPr sz="1725" b="1">
                <a:solidFill>
                  <a:srgbClr val="15202B"/>
                </a:solidFill>
              </a:rPr>
              <a:t>Reward relationship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9756A-DB79-457C-BCD0-F6EDFCED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524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/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CC914-BBC6-4683-9837-47BE68B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C78"/>
          </a:solidFill>
          <a:ln xmlns:a="http://schemas.openxmlformats.org/drawingml/2006/main" w="0">
            <a:solidFill>
              <a:srgbClr val="3B8C78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FDE53A1-190B-4F28-ADE4-7F6B2D23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43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B8C78"/>
                </a:solidFill>
              </a:defRPr>
            </a:pPr>
            <a:r>
              <a:rPr sz="1350" b="1">
                <a:solidFill>
                  <a:srgbClr val="3B8C78"/>
                </a:solidFill>
              </a:rPr>
              <a:t>2 pts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9663A6-76CB-40BB-97FE-357F7101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F06455"/>
                </a:solidFill>
              </a:defRPr>
            </a:pPr>
            <a:r>
              <a:rPr sz="3300" b="1">
                <a:solidFill>
                  <a:srgbClr val="F06455"/>
                </a:solidFill>
              </a:rPr>
              <a:t>9–12 pts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80351C7-586D-4E2D-A135-665D570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76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E"/>
                </a:solidFill>
              </a:defRPr>
            </a:pPr>
            <a:r>
              <a:rPr sz="975" b="1">
                <a:solidFill>
                  <a:srgbClr val="65717E"/>
                </a:solidFill>
              </a:rPr>
              <a:t>modeled wallet-share upside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3B131-88B8-4D47-9135-5FC932D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27" name="source-6">
            <a:extLst xmlns:a="http://schemas.openxmlformats.org/drawingml/2006/main">
              <a:ext uri="{FF2B5EF4-FFF2-40B4-BE49-F238E27FC236}">
                <a16:creationId xmlns:a16="http://schemas.microsoft.com/office/drawing/2014/main" id="{7BB9F189-42EA-4E5F-A0C5-1604FC38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28" name="page-6">
            <a:extLst xmlns:a="http://schemas.openxmlformats.org/drawingml/2006/main">
              <a:ext uri="{FF2B5EF4-FFF2-40B4-BE49-F238E27FC236}">
                <a16:creationId xmlns:a16="http://schemas.microsoft.com/office/drawing/2014/main" id="{F9F6095E-F867-4F41-95E9-BA01BB4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5957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2026-08-03T14:46:44.4170000Z</dcterms:created>
  <dcterms:modified xsi:type="dcterms:W3CDTF">2026-08-03T14:46:44.4170000Z</dcterms:modified>
</coreProperties>
</file>