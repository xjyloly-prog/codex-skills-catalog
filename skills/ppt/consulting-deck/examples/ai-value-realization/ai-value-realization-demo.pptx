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cbe03be7c4618" /><Relationship Type="http://schemas.openxmlformats.org/officeDocument/2006/relationships/extended-properties" Target="/docProps/app.xml" Id="Rc7ec068b05dc42cc" /><Relationship Type="http://schemas.openxmlformats.org/officeDocument/2006/relationships/officeDocument" Target="/ppt/presentation.xml" Id="R413e35f226a1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a1e1628924a2a"/>
  </p:sldMasterIdLst>
  <p:notesMasterIdLst>
    <p:notesMasterId xmlns:r="http://schemas.openxmlformats.org/officeDocument/2006/relationships" r:id="Raf19a7e2a52447de"/>
  </p:notesMasterIdLst>
  <p:sldIdLst>
    <p:sldId xmlns:r="http://schemas.openxmlformats.org/officeDocument/2006/relationships" id="256" r:id="Re2df7ff67b96453b"/>
    <p:sldId xmlns:r="http://schemas.openxmlformats.org/officeDocument/2006/relationships" id="257" r:id="Rb919d26c5bbb42b5"/>
    <p:sldId xmlns:r="http://schemas.openxmlformats.org/officeDocument/2006/relationships" id="258" r:id="R3491c577769a484d"/>
    <p:sldId xmlns:r="http://schemas.openxmlformats.org/officeDocument/2006/relationships" id="259" r:id="R1b3e9eb007874cda"/>
    <p:sldId xmlns:r="http://schemas.openxmlformats.org/officeDocument/2006/relationships" id="260" r:id="Rb2741bb1de064bf0"/>
    <p:sldId xmlns:r="http://schemas.openxmlformats.org/officeDocument/2006/relationships" id="261" r:id="R14e93360517b44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3a2fbef0b4ddb" /><Relationship Type="http://schemas.openxmlformats.org/officeDocument/2006/relationships/slideMaster" Target="/ppt/slideMasters/slideMaster1.xml" Id="R01ca1e1628924a2a" /><Relationship Type="http://schemas.openxmlformats.org/officeDocument/2006/relationships/notesMaster" Target="/ppt/notesMasters/notesMaster1.xml" Id="Raf19a7e2a52447de" /><Relationship Type="http://schemas.openxmlformats.org/officeDocument/2006/relationships/presProps" Target="/ppt/presProps.xml" Id="R442435b2740a447a" /><Relationship Type="http://schemas.openxmlformats.org/officeDocument/2006/relationships/tableStyles" Target="/ppt/tableStyles.xml" Id="Rf156daae8b5f4b64" /><Relationship Type="http://schemas.openxmlformats.org/officeDocument/2006/relationships/slide" Target="/ppt/slides/slide1.xml" Id="Re2df7ff67b96453b" /><Relationship Type="http://schemas.openxmlformats.org/officeDocument/2006/relationships/slide" Target="/ppt/slides/slide2.xml" Id="Rb919d26c5bbb42b5" /><Relationship Type="http://schemas.openxmlformats.org/officeDocument/2006/relationships/slide" Target="/ppt/slides/slide3.xml" Id="R3491c577769a484d" /><Relationship Type="http://schemas.openxmlformats.org/officeDocument/2006/relationships/slide" Target="/ppt/slides/slide4.xml" Id="R1b3e9eb007874cda" /><Relationship Type="http://schemas.openxmlformats.org/officeDocument/2006/relationships/slide" Target="/ppt/slides/slide5.xml" Id="Rb2741bb1de064bf0" /><Relationship Type="http://schemas.openxmlformats.org/officeDocument/2006/relationships/slide" Target="/ppt/slides/slide6.xml" Id="R14e93360517b44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91467f18a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39108836f4e30" /><Relationship Type="http://schemas.openxmlformats.org/officeDocument/2006/relationships/notesMaster" Target="/ppt/notesMasters/notesMaster1.xml" Id="Rbe2d1877503d44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04964f14434ced" /><Relationship Type="http://schemas.openxmlformats.org/officeDocument/2006/relationships/notesMaster" Target="/ppt/notesMasters/notesMaster1.xml" Id="R00bd546005b347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278d1ba65845d7" /><Relationship Type="http://schemas.openxmlformats.org/officeDocument/2006/relationships/notesMaster" Target="/ppt/notesMasters/notesMaster1.xml" Id="R9db2ee7e2c4d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2cc0793ce0412c" /><Relationship Type="http://schemas.openxmlformats.org/officeDocument/2006/relationships/notesMaster" Target="/ppt/notesMasters/notesMaster1.xml" Id="R239c8f1d950748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f3e3f0d4fc4145" /><Relationship Type="http://schemas.openxmlformats.org/officeDocument/2006/relationships/notesMaster" Target="/ppt/notesMasters/notesMaster1.xml" Id="Rd7a67c53c7924e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d49eb595c9479a" /><Relationship Type="http://schemas.openxmlformats.org/officeDocument/2006/relationships/notesMaster" Target="/ppt/notesMasters/notesMaster1.xml" Id="Ra1e36386d52e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demonstration data created for Consulting Deck v0.2. Not a real-world benchmark or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485cb74ba43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e66c8a94e4183" /><Relationship Type="http://schemas.openxmlformats.org/officeDocument/2006/relationships/slideLayout" Target="/ppt/slideLayouts/slideLayout1.xml" Id="Rd81f57e244fc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1f57e244fc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e981ed06f4f53" /><Relationship Type="http://schemas.openxmlformats.org/officeDocument/2006/relationships/notesSlide" Target="/ppt/notesSlides/notesSlide1.xml" Id="Rc02c104d3bb8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76fad7be644e4" /><Relationship Type="http://schemas.openxmlformats.org/officeDocument/2006/relationships/chart" Target="/ppt/slides/charts/chart1.xml" Id="Rce7778606bd34373" /><Relationship Type="http://schemas.openxmlformats.org/officeDocument/2006/relationships/notesSlide" Target="/ppt/notesSlides/notesSlide2.xml" Id="R64f1d8255b0b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0629dc34a4227" /><Relationship Type="http://schemas.openxmlformats.org/officeDocument/2006/relationships/chart" Target="/ppt/slides/charts/chart2.xml" Id="R2c44c3354c8748f7" /><Relationship Type="http://schemas.openxmlformats.org/officeDocument/2006/relationships/notesSlide" Target="/ppt/notesSlides/notesSlide3.xml" Id="Rae3717e1a64646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953f582a47c4" /><Relationship Type="http://schemas.openxmlformats.org/officeDocument/2006/relationships/chart" Target="/ppt/slides/charts/chart3.xml" Id="R0ad70e6c7b7e40f6" /><Relationship Type="http://schemas.openxmlformats.org/officeDocument/2006/relationships/notesSlide" Target="/ppt/notesSlides/notesSlide4.xml" Id="Rf00c0d2f064442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8e230271f4581" /><Relationship Type="http://schemas.openxmlformats.org/officeDocument/2006/relationships/chart" Target="/ppt/slides/charts/chart4.xml" Id="Rbd4875e8721c44cc" /><Relationship Type="http://schemas.openxmlformats.org/officeDocument/2006/relationships/notesSlide" Target="/ppt/notesSlides/notesSlide5.xml" Id="Ra61a433885d24a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68c079b874531" /><Relationship Type="http://schemas.openxmlformats.org/officeDocument/2006/relationships/notesSlide" Target="/ppt/notesSlides/notesSlide6.xml" Id="R73ed1c7d4a1d4a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Experimenting</c:v>
          </c:tx>
          <c:spPr>
            <a:solidFill xmlns:a="http://schemas.openxmlformats.org/drawingml/2006/main">
              <a:srgbClr val="D8E0E7"/>
            </a:solidFill>
          </c:spPr>
          <c:cat>
            <c:strLit>
              <c:ptCount val="6"/>
              <c:pt idx="0">
                <c:v>Customer service</c:v>
              </c:pt>
              <c:pt idx="1">
                <c:v>Software delivery</c:v>
              </c:pt>
              <c:pt idx="2">
                <c:v>Marketing</c:v>
              </c:pt>
              <c:pt idx="3">
                <c:v>Risk operations</c:v>
              </c:pt>
              <c:pt idx="4">
                <c:v>Finance</c:v>
              </c:pt>
              <c:pt idx="5">
                <c:v>HR</c:v>
              </c:pt>
            </c:strLit>
          </c:cat>
          <c:val>
            <c:numLit>
              <c:formatCode>General</c:formatCode>
              <c:ptCount val="6"/>
              <c:pt idx="0">
                <c:v>24</c:v>
              </c:pt>
              <c:pt idx="1">
                <c:v>28</c:v>
              </c:pt>
              <c:pt idx="2">
                <c:v>25</c:v>
              </c:pt>
              <c:pt idx="3">
                <c:v>23</c:v>
              </c:pt>
              <c:pt idx="4">
                <c:v>20</c:v>
              </c:pt>
              <c:pt idx="5">
                <c:v>18</c:v>
              </c:pt>
            </c:numLit>
          </c:val>
        </c:ser>
        <c:ser>
          <c:idx val="1"/>
          <c:order val="1"/>
          <c:tx>
            <c:v>Scaled</c:v>
          </c:tx>
          <c:spPr>
            <a:solidFill xmlns:a="http://schemas.openxmlformats.org/drawingml/2006/main">
              <a:srgbClr val="23A6C7"/>
            </a:solidFill>
          </c:spPr>
          <c:cat>
            <c:strLit>
              <c:ptCount val="6"/>
              <c:pt idx="0">
                <c:v>Customer service</c:v>
              </c:pt>
              <c:pt idx="1">
                <c:v>Software delivery</c:v>
              </c:pt>
              <c:pt idx="2">
                <c:v>Marketing</c:v>
              </c:pt>
              <c:pt idx="3">
                <c:v>Risk operations</c:v>
              </c:pt>
              <c:pt idx="4">
                <c:v>Finance</c:v>
              </c:pt>
              <c:pt idx="5">
                <c:v>HR</c:v>
              </c:pt>
            </c:strLit>
          </c:cat>
          <c:val>
            <c:numLit>
              <c:formatCode>General</c:formatCode>
              <c:ptCount val="6"/>
              <c:pt idx="0">
                <c:v>52</c:v>
              </c:pt>
              <c:pt idx="1">
                <c:v>43</c:v>
              </c:pt>
              <c:pt idx="2">
                <c:v>36</c:v>
              </c:pt>
              <c:pt idx="3">
                <c:v>31</c:v>
              </c:pt>
              <c:pt idx="4">
                <c:v>21</c:v>
              </c:pt>
              <c:pt idx="5">
                <c:v>16</c:v>
              </c:pt>
            </c:numLit>
          </c:val>
        </c:ser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65717E"/>
                    </a:solidFill>
                  </a:rPr>
                  <a:t>Share of initiatives, %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65717E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202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17E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modeled annual value</c:v>
          </c:tx>
          <c:spPr>
            <a:solidFill xmlns:a="http://schemas.openxmlformats.org/drawingml/2006/main">
              <a:srgbClr val="0B2C5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8E0E7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D8E0E7"/>
              </a:solidFill>
            </c:spPr>
          </c:dPt>
          <c:cat>
            <c:strLit>
              <c:ptCount val="6"/>
              <c:pt idx="0">
                <c:v>Service resolution</c:v>
              </c:pt>
              <c:pt idx="1">
                <c:v>Developer copilot</c:v>
              </c:pt>
              <c:pt idx="2">
                <c:v>Campaign content</c:v>
              </c:pt>
              <c:pt idx="3">
                <c:v>Risk review</c:v>
              </c:pt>
              <c:pt idx="4">
                <c:v>Knowledge search</c:v>
              </c:pt>
              <c:pt idx="5">
                <c:v>Other pilots</c:v>
              </c:pt>
            </c:strLit>
          </c:cat>
          <c:val>
            <c:numLit>
              <c:formatCode>General</c:formatCode>
              <c:ptCount val="6"/>
              <c:pt idx="0">
                <c:v>24</c:v>
              </c:pt>
              <c:pt idx="1">
                <c:v>19</c:v>
              </c:pt>
              <c:pt idx="2">
                <c:v>16</c:v>
              </c:pt>
              <c:pt idx="3">
                <c:v>13</c:v>
              </c:pt>
              <c:pt idx="4">
                <c:v>10</c:v>
              </c:pt>
              <c:pt idx="5">
                <c:v>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65717E"/>
                    </a:solidFill>
                  </a:rPr>
                  <a:t>Share of modeled annual value, %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65717E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202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citing as primary bottleneck</c:v>
          </c:tx>
          <c:spPr>
            <a:solidFill xmlns:a="http://schemas.openxmlformats.org/drawingml/2006/main">
              <a:srgbClr val="0B2C5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0645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3A6C7"/>
              </a:solidFill>
            </c:spPr>
          </c:dPt>
          <c:cat>
            <c:strLit>
              <c:ptCount val="6"/>
              <c:pt idx="0">
                <c:v>Workflow ownership</c:v>
              </c:pt>
              <c:pt idx="1">
                <c:v>Data readiness</c:v>
              </c:pt>
              <c:pt idx="2">
                <c:v>Risk controls</c:v>
              </c:pt>
              <c:pt idx="3">
                <c:v>Change adoption</c:v>
              </c:pt>
              <c:pt idx="4">
                <c:v>Model quality</c:v>
              </c:pt>
              <c:pt idx="5">
                <c:v>Infrastructure</c:v>
              </c:pt>
            </c:strLit>
          </c:cat>
          <c:val>
            <c:numLit>
              <c:formatCode>General</c:formatCode>
              <c:ptCount val="6"/>
              <c:pt idx="0">
                <c:v>27</c:v>
              </c:pt>
              <c:pt idx="1">
                <c:v>23</c:v>
              </c:pt>
              <c:pt idx="2">
                <c:v>18</c:v>
              </c:pt>
              <c:pt idx="3">
                <c:v>15</c:v>
              </c:pt>
              <c:pt idx="4">
                <c:v>10</c:v>
              </c:pt>
              <c:pt idx="5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65717E"/>
                    </a:solidFill>
                  </a:rPr>
                  <a:t>Share citing as primary bottleneck, %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65717E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202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Stage-gated portfolio</c:v>
          </c:tx>
          <c:spPr>
            <a:ln xmlns:a="http://schemas.openxmlformats.org/drawingml/2006/main" w="38100">
              <a:solidFill>
                <a:srgbClr val="F06455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Q0</c:v>
              </c:pt>
              <c:pt idx="1">
                <c:v>Q1</c:v>
              </c:pt>
              <c:pt idx="2">
                <c:v>Q2</c:v>
              </c:pt>
              <c:pt idx="3">
                <c:v>Q3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32</c:v>
              </c:pt>
              <c:pt idx="2">
                <c:v>49</c:v>
              </c:pt>
              <c:pt idx="3">
                <c:v>68</c:v>
              </c:pt>
            </c:numLit>
          </c:val>
        </c:ser>
        <c:ser>
          <c:idx val="1"/>
          <c:order val="1"/>
          <c:tx>
            <c:v>Broad pilot portfolio</c:v>
          </c:tx>
          <c:spPr>
            <a:ln xmlns:a="http://schemas.openxmlformats.org/drawingml/2006/main" w="28575">
              <a:solidFill>
                <a:srgbClr val="0B2C5F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4"/>
              <c:pt idx="0">
                <c:v>Q0</c:v>
              </c:pt>
              <c:pt idx="1">
                <c:v>Q1</c:v>
              </c:pt>
              <c:pt idx="2">
                <c:v>Q2</c:v>
              </c:pt>
              <c:pt idx="3">
                <c:v>Q3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24</c:v>
              </c:pt>
              <c:pt idx="2">
                <c:v>27</c:v>
              </c:pt>
              <c:pt idx="3">
                <c:v>29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E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5717E"/>
                    </a:solidFill>
                  </a:rPr>
                  <a:t>Modeled value index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5717E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E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5717E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67C2788-5888-4066-8DC3-DB6FCCF8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A6C7"/>
                </a:solidFill>
              </a:defRPr>
            </a:pPr>
            <a:r>
              <a:rPr sz="975" b="1">
                <a:solidFill>
                  <a:srgbClr val="23A6C7"/>
                </a:solidFill>
              </a:rPr>
              <a:t>AI VALUE REALIZATION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CDC0E0-BEEF-4370-B2AE-E9A2267F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202B"/>
                </a:solidFill>
              </a:defRPr>
            </a:pPr>
            <a:r>
              <a:rPr sz="4350" b="1">
                <a:solidFill>
                  <a:srgbClr val="15202B"/>
                </a:solidFill>
              </a:rPr>
              <a:t>AI value is broad in theory — but concentrated in execution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DE5F602-DE94-4D78-9E44-54697FEC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7E"/>
                </a:solidFill>
              </a:defRPr>
            </a:pPr>
            <a:r>
              <a:rPr sz="1650">
                <a:solidFill>
                  <a:srgbClr val="65717E"/>
                </a:solidFill>
              </a:rPr>
              <a:t>A six-page consulting demonstration showing how evidence, analytical charts and an action storyline become an editable PowerPoint.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17F60-AD9D-4136-BF25-2380BC6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5F"/>
          </a:solidFill>
          <a:ln xmlns:a="http://schemas.openxmlformats.org/drawingml/2006/main" w="0">
            <a:solidFill>
              <a:srgbClr val="0B2C5F"/>
            </a:solidFill>
            <a:prstDash val="solid"/>
          </a:ln>
        </p:spPr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B6CCF9D9-1C29-4E24-9BEC-5A0D3B92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2C5F"/>
                </a:solidFill>
              </a:defRPr>
            </a:pPr>
            <a:r>
              <a:rPr sz="1275" b="1">
                <a:solidFill>
                  <a:srgbClr val="0B2C5F"/>
                </a:solidFill>
              </a:rPr>
              <a:t>The modeled portfolio shifts investment from scattered pilots to four repeatable workflows.</a:t>
            </a:r>
          </a:p>
        </p:txBody>
      </p:sp>
      <p:sp>
        <p:nvSpPr>
          <p:cNvPr id="6" name="cover-tag">
            <a:extLst xmlns:a="http://schemas.openxmlformats.org/drawingml/2006/main">
              <a:ext uri="{FF2B5EF4-FFF2-40B4-BE49-F238E27FC236}">
                <a16:creationId xmlns:a16="http://schemas.microsoft.com/office/drawing/2014/main" id="{6F0EC783-B5B7-46B9-8B56-AE85EC2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EDITABLE PPTX DEMO</a:t>
            </a:r>
          </a:p>
        </p:txBody>
      </p:sp>
      <p:sp>
        <p:nvSpPr>
          <p:cNvPr id="7" name="cover-source">
            <a:extLst xmlns:a="http://schemas.openxmlformats.org/drawingml/2006/main">
              <a:ext uri="{FF2B5EF4-FFF2-40B4-BE49-F238E27FC236}">
                <a16:creationId xmlns:a16="http://schemas.microsoft.com/office/drawing/2014/main" id="{E0DDABA8-43A1-4107-8738-ACB01143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149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data for product demonstration</a:t>
            </a:r>
          </a:p>
        </p:txBody>
      </p:sp>
    </p:spTree>
    <p:extLst>
      <p:ext uri="{BB962C8B-B14F-4D97-AF65-F5344CB8AC3E}">
        <p14:creationId xmlns:p14="http://schemas.microsoft.com/office/powerpoint/2010/main" val="646951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">
            <a:extLst xmlns:a="http://schemas.openxmlformats.org/drawingml/2006/main">
              <a:ext uri="{FF2B5EF4-FFF2-40B4-BE49-F238E27FC236}">
                <a16:creationId xmlns:a16="http://schemas.microsoft.com/office/drawing/2014/main" id="{42D42ED9-7D60-4552-B8E8-359C0A9B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WHERE VALUE SITS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FCEED01-EBBF-4B5C-8479-DC103E5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Adoption is broad, but measurable value remains concentrated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9195A-1FBB-47A0-8680-34887837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00875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7778606bd34373"/>
          </a:graphicData>
        </a:graphic>
      </p:graphicFrame>
      <p:sp>
        <p:nvSpPr>
          <p:cNvPr id="5" name="metric-3.2×-886">
            <a:extLst xmlns:a="http://schemas.openxmlformats.org/drawingml/2006/main">
              <a:ext uri="{FF2B5EF4-FFF2-40B4-BE49-F238E27FC236}">
                <a16:creationId xmlns:a16="http://schemas.microsoft.com/office/drawing/2014/main" id="{9E6AF94F-198C-45B9-AC08-72D3480B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6455"/>
                </a:solidFill>
              </a:defRPr>
            </a:pPr>
            <a:r>
              <a:rPr sz="3450" b="1">
                <a:solidFill>
                  <a:srgbClr val="F06455"/>
                </a:solidFill>
              </a:rPr>
              <a:t>3.2×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2C8B11-B4FF-4E64-9365-17E8FE23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Value concentration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F535FA-A977-47A7-B313-52B32EF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Scaled customer-service workflows generate more modeled value than the median function.</a:t>
            </a:r>
          </a:p>
        </p:txBody>
      </p:sp>
      <p:sp>
        <p:nvSpPr>
          <p:cNvPr id="8" name="metric-68%-886">
            <a:extLst xmlns:a="http://schemas.openxmlformats.org/drawingml/2006/main">
              <a:ext uri="{FF2B5EF4-FFF2-40B4-BE49-F238E27FC236}">
                <a16:creationId xmlns:a16="http://schemas.microsoft.com/office/drawing/2014/main" id="{3D08968D-F867-4366-AB40-2117074A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57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2C5F"/>
                </a:solidFill>
              </a:defRPr>
            </a:pPr>
            <a:r>
              <a:rPr sz="3450" b="1">
                <a:solidFill>
                  <a:srgbClr val="0B2C5F"/>
                </a:solidFill>
              </a:rPr>
              <a:t>68%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CC4AA9-9905-459B-A3DC-6B856A7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862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Still experimental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E2E030-F909-4BA1-9DB8-E29A7FDB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67275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Most initiatives have not crossed into repeatable operating routines.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C4108-65D8-4974-8948-00B84FE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648BEA87-DF39-43A0-BE36-B853E6AA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D897D57E-8510-4EB0-9652-671B93EF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899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3">
            <a:extLst xmlns:a="http://schemas.openxmlformats.org/drawingml/2006/main">
              <a:ext uri="{FF2B5EF4-FFF2-40B4-BE49-F238E27FC236}">
                <a16:creationId xmlns:a16="http://schemas.microsoft.com/office/drawing/2014/main" id="{C5DE1DC6-2FCC-4878-BD59-2D8B92D2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PORTFOLIO FOCUS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B65C323-15CB-4F88-9B90-2493DBA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Four repeatable workflows account for nearly three-quarters of modeled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F6DBC-8F1F-4B59-81D3-B32E3EAD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715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44c3354c8748f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7C083-F4B3-4933-899A-3B91645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C884BA-E451-40CD-992E-F6950A3D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19325"/>
            <a:ext cx="2352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72% of modeled value comes from the first four workflows — the portfolio does not need another broad pilot wave.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B735D0-E38A-4A5C-9665-B72FBC85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A6C7"/>
                </a:solidFill>
              </a:defRPr>
            </a:pPr>
            <a:r>
              <a:rPr sz="975" b="1">
                <a:solidFill>
                  <a:srgbClr val="23A6C7"/>
                </a:solidFill>
              </a:rPr>
              <a:t>Implication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E2749D-B98F-445E-9147-0DF0DCBA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48125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C5F"/>
                </a:solidFill>
              </a:defRPr>
            </a:pPr>
            <a:r>
              <a:rPr sz="1725" b="1">
                <a:solidFill>
                  <a:srgbClr val="0B2C5F"/>
                </a:solidFill>
              </a:rPr>
              <a:t>Fund reusable workflow assets, not disconnected model experiments.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957BB-1584-49AF-B6F1-F7CA5CD4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0" name="source-3">
            <a:extLst xmlns:a="http://schemas.openxmlformats.org/drawingml/2006/main">
              <a:ext uri="{FF2B5EF4-FFF2-40B4-BE49-F238E27FC236}">
                <a16:creationId xmlns:a16="http://schemas.microsoft.com/office/drawing/2014/main" id="{FD90DF6A-DB9E-4A9C-9445-F8ECE31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1" name="page-3">
            <a:extLst xmlns:a="http://schemas.openxmlformats.org/drawingml/2006/main">
              <a:ext uri="{FF2B5EF4-FFF2-40B4-BE49-F238E27FC236}">
                <a16:creationId xmlns:a16="http://schemas.microsoft.com/office/drawing/2014/main" id="{8AE91496-54ED-4A49-B1AD-69F35065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7049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4">
            <a:extLst xmlns:a="http://schemas.openxmlformats.org/drawingml/2006/main">
              <a:ext uri="{FF2B5EF4-FFF2-40B4-BE49-F238E27FC236}">
                <a16:creationId xmlns:a16="http://schemas.microsoft.com/office/drawing/2014/main" id="{7F570733-5200-4BEC-A076-CC5D5355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WHAT BLOCKS SCALE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1284528-3683-428B-B262-5A5A5591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Operating-model gaps now outweigh model-access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510F0-8019-4416-8127-F32BC82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d70e6c7b7e40f6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6560E78-11ED-4958-9D93-2F4C376C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06455"/>
                </a:solidFill>
              </a:defRPr>
            </a:pPr>
            <a:r>
              <a:rPr sz="4650" b="1">
                <a:solidFill>
                  <a:srgbClr val="F06455"/>
                </a:solidFill>
              </a:rPr>
              <a:t>65%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D025D9-6F75-4267-8A82-DFE503C7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619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02B"/>
                </a:solidFill>
              </a:defRPr>
            </a:pPr>
            <a:r>
              <a:rPr sz="1500" b="1">
                <a:solidFill>
                  <a:srgbClr val="15202B"/>
                </a:solidFill>
              </a:rPr>
              <a:t>of primary bottlenecks sit in ownership, data or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3A49-4C32-4CAE-8B6D-C7E7D4A4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C7"/>
          </a:solidFill>
          <a:ln xmlns:a="http://schemas.openxmlformats.org/drawingml/2006/main" w="0">
            <a:solidFill>
              <a:srgbClr val="23A6C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0B74B7-5FF1-4BBB-BDE8-9E208B3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59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The next unlock is governance embedded in the workflow — not another standalone model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81D53-DA3F-4778-ACDA-CF774A30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9B48FD80-A553-4686-8034-EE2C9526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1" name="page-4">
            <a:extLst xmlns:a="http://schemas.openxmlformats.org/drawingml/2006/main">
              <a:ext uri="{FF2B5EF4-FFF2-40B4-BE49-F238E27FC236}">
                <a16:creationId xmlns:a16="http://schemas.microsoft.com/office/drawing/2014/main" id="{9D9E5280-1149-4D0D-AD80-2EAAF6E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7190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5">
            <a:extLst xmlns:a="http://schemas.openxmlformats.org/drawingml/2006/main">
              <a:ext uri="{FF2B5EF4-FFF2-40B4-BE49-F238E27FC236}">
                <a16:creationId xmlns:a16="http://schemas.microsoft.com/office/drawing/2014/main" id="{7B3EAC59-CEC0-4594-A3C6-D6DC9D69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HOW TO SCALE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ECFC8B6-5DFE-43A8-9D69-5E864151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A stage-gated portfolio more than doubles value capture within three quarters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8D75D-75F6-4348-A244-C556A868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757237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4875e8721c44cc"/>
          </a:graphicData>
        </a:graphic>
      </p:graphicFrame>
      <p:sp>
        <p:nvSpPr>
          <p:cNvPr id="5" name="metric-+134%-922">
            <a:extLst xmlns:a="http://schemas.openxmlformats.org/drawingml/2006/main">
              <a:ext uri="{FF2B5EF4-FFF2-40B4-BE49-F238E27FC236}">
                <a16:creationId xmlns:a16="http://schemas.microsoft.com/office/drawing/2014/main" id="{B377E329-2A30-4539-8F26-7D344E77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43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6455"/>
                </a:solidFill>
              </a:defRPr>
            </a:pPr>
            <a:r>
              <a:rPr sz="3450" b="1">
                <a:solidFill>
                  <a:srgbClr val="F06455"/>
                </a:solidFill>
              </a:rPr>
              <a:t>+134%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E03556-47B4-4AB0-8AE6-385E5E8D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717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02B"/>
                </a:solidFill>
              </a:defRPr>
            </a:pPr>
            <a:r>
              <a:rPr sz="1200" b="1">
                <a:solidFill>
                  <a:srgbClr val="15202B"/>
                </a:solidFill>
              </a:rPr>
              <a:t>Value advantage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59B264-FAE1-4F2C-BEB3-2B65946B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52775"/>
            <a:ext cx="2343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17E"/>
                </a:solidFill>
              </a:defRPr>
            </a:pPr>
            <a:r>
              <a:rPr sz="975">
                <a:solidFill>
                  <a:srgbClr val="65717E"/>
                </a:solidFill>
              </a:rPr>
              <a:t>Stage gates concentrate funding behind workflows that prove adoption and control readiness.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C389FA-533F-4F34-A671-5E39AC98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3A6C7"/>
                </a:solidFill>
              </a:defRPr>
            </a:pPr>
            <a:r>
              <a:rPr sz="975" b="1">
                <a:solidFill>
                  <a:srgbClr val="23A6C7"/>
                </a:solidFill>
              </a:rPr>
              <a:t>Decision rule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5455BA-E861-4B6F-B6D3-9603A206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95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C5F"/>
                </a:solidFill>
              </a:defRPr>
            </a:pPr>
            <a:r>
              <a:rPr sz="1500" b="1">
                <a:solidFill>
                  <a:srgbClr val="0B2C5F"/>
                </a:solidFill>
              </a:rPr>
              <a:t>Scale only when usage, unit economics and controls all clear the gate.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6FA9B-716D-430B-AAEC-5AAD6F68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11" name="source-5">
            <a:extLst xmlns:a="http://schemas.openxmlformats.org/drawingml/2006/main">
              <a:ext uri="{FF2B5EF4-FFF2-40B4-BE49-F238E27FC236}">
                <a16:creationId xmlns:a16="http://schemas.microsoft.com/office/drawing/2014/main" id="{399BDE8F-4FF5-4413-AFBD-29E60C13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6F027CCE-8801-4F48-B02F-382BAF6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8865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6">
            <a:extLst xmlns:a="http://schemas.openxmlformats.org/drawingml/2006/main">
              <a:ext uri="{FF2B5EF4-FFF2-40B4-BE49-F238E27FC236}">
                <a16:creationId xmlns:a16="http://schemas.microsoft.com/office/drawing/2014/main" id="{6A8FE8F6-93BD-4CCF-8608-02901F7E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3A6C7"/>
                </a:solidFill>
              </a:defRPr>
            </a:pPr>
            <a:r>
              <a:rPr sz="900" b="1">
                <a:solidFill>
                  <a:srgbClr val="23A6C7"/>
                </a:solidFill>
              </a:rPr>
              <a:t>ACTION AGENDA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F62EB69-C316-43F6-AE7D-2BF5D52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202B"/>
                </a:solidFill>
              </a:defRPr>
            </a:pPr>
            <a:r>
              <a:rPr sz="2700" b="1">
                <a:solidFill>
                  <a:srgbClr val="15202B"/>
                </a:solidFill>
              </a:rPr>
              <a:t>The first 90 days should lock two workflows and the operating system around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6C12C-13B7-4E86-986C-0EDBDE45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24680-ACE4-4006-B8E2-8ED0394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8C1BB6-50C5-4FF0-9BD4-18B478C2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455"/>
                </a:solidFill>
              </a:defRPr>
            </a:pPr>
            <a:r>
              <a:rPr sz="1200" b="1">
                <a:solidFill>
                  <a:srgbClr val="F06455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473ABD-1632-496D-A7B0-4993BC4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2B"/>
                </a:solidFill>
              </a:defRPr>
            </a:pPr>
            <a:r>
              <a:rPr sz="1950" b="1">
                <a:solidFill>
                  <a:srgbClr val="15202B"/>
                </a:solidFill>
              </a:rPr>
              <a:t>Choose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CF69B04-7BF1-4144-8CF6-32A7032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17E"/>
                </a:solidFill>
              </a:defRPr>
            </a:pPr>
            <a:r>
              <a:rPr sz="975" b="1">
                <a:solidFill>
                  <a:srgbClr val="65717E"/>
                </a:solidFill>
              </a:rPr>
              <a:t>Weeks 1–2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29CE415-0CFD-4FAD-9304-0836B69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</a:defRPr>
            </a:pPr>
            <a:r>
              <a:rPr sz="1200">
                <a:solidFill>
                  <a:srgbClr val="15202B"/>
                </a:solidFill>
              </a:rPr>
              <a:t>Select two workflows with clear owners, baseline economics and measurable adoption.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5D860-7925-4579-8806-36B537F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C7"/>
          </a:solidFill>
          <a:ln xmlns:a="http://schemas.openxmlformats.org/drawingml/2006/main" w="0">
            <a:solidFill>
              <a:srgbClr val="23A6C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FA47F7-0372-4F28-BC7B-AAC01737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C7"/>
                </a:solidFill>
              </a:defRPr>
            </a:pPr>
            <a:r>
              <a:rPr sz="1200" b="1">
                <a:solidFill>
                  <a:srgbClr val="23A6C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FDDE2C-A75C-477A-B1A6-3F3AD0C0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81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2B"/>
                </a:solidFill>
              </a:defRPr>
            </a:pPr>
            <a:r>
              <a:rPr sz="1950" b="1">
                <a:solidFill>
                  <a:srgbClr val="15202B"/>
                </a:solidFill>
              </a:rPr>
              <a:t>Instrument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588D93-D615-42CC-8F89-51DE1B2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76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17E"/>
                </a:solidFill>
              </a:defRPr>
            </a:pPr>
            <a:r>
              <a:rPr sz="975" b="1">
                <a:solidFill>
                  <a:srgbClr val="65717E"/>
                </a:solidFill>
              </a:rPr>
              <a:t>Weeks 3–5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FE0475-C46E-4146-A422-7F40540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7338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</a:defRPr>
            </a:pPr>
            <a:r>
              <a:rPr sz="1200">
                <a:solidFill>
                  <a:srgbClr val="15202B"/>
                </a:solidFill>
              </a:rPr>
              <a:t>Build evaluation, risk controls and usage telemetry into the working process.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9D1A5-BD6C-4A78-8CCD-5EA0CF5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5F"/>
          </a:solidFill>
          <a:ln xmlns:a="http://schemas.openxmlformats.org/drawingml/2006/main" w="0">
            <a:solidFill>
              <a:srgbClr val="0B2C5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B68734-6DD3-4FDD-9FFD-CE96585D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C5F"/>
                </a:solidFill>
              </a:defRPr>
            </a:pPr>
            <a:r>
              <a:rPr sz="1200" b="1">
                <a:solidFill>
                  <a:srgbClr val="0B2C5F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33E8E1F-90FA-4615-98FD-71857B7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2B"/>
                </a:solidFill>
              </a:defRPr>
            </a:pPr>
            <a:r>
              <a:rPr sz="1950" b="1">
                <a:solidFill>
                  <a:srgbClr val="15202B"/>
                </a:solidFill>
              </a:rPr>
              <a:t>Scale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F7C380-01BB-4FD4-9633-9FC9DA24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17E"/>
                </a:solidFill>
              </a:defRPr>
            </a:pPr>
            <a:r>
              <a:rPr sz="975" b="1">
                <a:solidFill>
                  <a:srgbClr val="65717E"/>
                </a:solidFill>
              </a:rPr>
              <a:t>Weeks 6–10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BFA459-4BE6-4E52-9D2F-B891AFB7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</a:defRPr>
            </a:pPr>
            <a:r>
              <a:rPr sz="1200">
                <a:solidFill>
                  <a:srgbClr val="15202B"/>
                </a:solidFill>
              </a:rPr>
              <a:t>Redesign roles, train teams and fund reusable workflow components.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BC320-B24F-4DFE-816F-AE822D0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C78"/>
          </a:solidFill>
          <a:ln xmlns:a="http://schemas.openxmlformats.org/drawingml/2006/main" w="0">
            <a:solidFill>
              <a:srgbClr val="3B8C78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6516CD5-6724-4C4D-82CB-7ABCB1D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43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B8C78"/>
                </a:solidFill>
              </a:defRPr>
            </a:pPr>
            <a:r>
              <a:rPr sz="1200" b="1">
                <a:solidFill>
                  <a:srgbClr val="3B8C78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CE9E645-D415-4026-887C-FD4F2709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81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02B"/>
                </a:solidFill>
              </a:defRPr>
            </a:pPr>
            <a:r>
              <a:rPr sz="1950" b="1">
                <a:solidFill>
                  <a:srgbClr val="15202B"/>
                </a:solidFill>
              </a:rPr>
              <a:t>Reallocate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0624C48-3DDB-40EC-A2DE-60FA7F46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766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17E"/>
                </a:solidFill>
              </a:defRPr>
            </a:pPr>
            <a:r>
              <a:rPr sz="975" b="1">
                <a:solidFill>
                  <a:srgbClr val="65717E"/>
                </a:solidFill>
              </a:rPr>
              <a:t>Weeks 11–13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2B53BC3-EF78-49C4-AEBA-4257F890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338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202B"/>
                </a:solidFill>
              </a:defRPr>
            </a:pPr>
            <a:r>
              <a:rPr sz="1200">
                <a:solidFill>
                  <a:srgbClr val="15202B"/>
                </a:solidFill>
              </a:rPr>
              <a:t>Stop weak pilots and move capacity toward proven value pools.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7B12D-18A9-4098-9AEA-E2E8130D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455"/>
          </a:solidFill>
          <a:ln xmlns:a="http://schemas.openxmlformats.org/drawingml/2006/main" w="0">
            <a:solidFill>
              <a:srgbClr val="F06455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68ABB6B-4DAF-40B2-B0F7-5665914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49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02B"/>
                </a:solidFill>
              </a:defRPr>
            </a:pPr>
            <a:r>
              <a:rPr sz="1350" b="1">
                <a:solidFill>
                  <a:srgbClr val="15202B"/>
                </a:solidFill>
              </a:rPr>
              <a:t>Board decision: approve the two-workflow portfolio and assign one accountable business owner per workflow.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F45913-C331-4C04-9A69-A60AB398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solidFill>
              <a:srgbClr val="D8E0E7"/>
            </a:solidFill>
            <a:prstDash val="solid"/>
          </a:ln>
        </p:spPr>
      </p:sp>
      <p:sp>
        <p:nvSpPr>
          <p:cNvPr id="27" name="source-6">
            <a:extLst xmlns:a="http://schemas.openxmlformats.org/drawingml/2006/main">
              <a:ext uri="{FF2B5EF4-FFF2-40B4-BE49-F238E27FC236}">
                <a16:creationId xmlns:a16="http://schemas.microsoft.com/office/drawing/2014/main" id="{933E3192-3E60-4E9D-8256-73368B3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Synthetic demonstration data • Consulting Deck v0.2</a:t>
            </a:r>
          </a:p>
        </p:txBody>
      </p:sp>
      <p:sp>
        <p:nvSpPr>
          <p:cNvPr id="28" name="page-6">
            <a:extLst xmlns:a="http://schemas.openxmlformats.org/drawingml/2006/main">
              <a:ext uri="{FF2B5EF4-FFF2-40B4-BE49-F238E27FC236}">
                <a16:creationId xmlns:a16="http://schemas.microsoft.com/office/drawing/2014/main" id="{387C1EFB-CDD4-4271-B533-C6B3939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5717E"/>
                </a:solidFill>
              </a:defRPr>
            </a:pPr>
            <a:r>
              <a:rPr sz="750">
                <a:solidFill>
                  <a:srgbClr val="65717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7851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2026-08-03T14:46:43.4320000Z</dcterms:created>
  <dcterms:modified xsi:type="dcterms:W3CDTF">2026-08-03T14:46:43.4320000Z</dcterms:modified>
</coreProperties>
</file>